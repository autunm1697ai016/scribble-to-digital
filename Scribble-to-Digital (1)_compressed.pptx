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rata"/>
      <p:regular r:id="rId17"/>
    </p:embeddedFont>
    <p:embeddedFont>
      <p:font typeface="Prata"/>
      <p:regular r:id="rId18"/>
    </p:embeddedFont>
    <p:embeddedFont>
      <p:font typeface="Raleway"/>
      <p:regular r:id="rId19"/>
    </p:embeddedFont>
    <p:embeddedFont>
      <p:font typeface="Raleway"/>
      <p:regular r:id="rId20"/>
    </p:embeddedFont>
    <p:embeddedFont>
      <p:font typeface="Raleway"/>
      <p:regular r:id="rId21"/>
    </p:embeddedFont>
    <p:embeddedFont>
      <p:font typeface="Raleway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9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22742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Scribble to Digital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7636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Transform messy handwritten notes into clean, structured digital text using AI-powered OCR and intelligent processing.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3595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Challenge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98363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3A3B3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3325178"/>
            <a:ext cx="680442" cy="68044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7770" y="3512225"/>
            <a:ext cx="306110" cy="3061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0604" y="42324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Poor Lighting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0604" y="4722852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Low-quality images reduce text recognition accuracy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5216962" y="3098363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3A3B3C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3776" y="3325178"/>
            <a:ext cx="680442" cy="680442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0942" y="3512225"/>
            <a:ext cx="306110" cy="30611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43776" y="4232434"/>
            <a:ext cx="28716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Unclear Handwriting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5443776" y="4722852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Varied writing styles make manual transcription time-consuming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9640133" y="3098363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3A3B3C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6948" y="3325178"/>
            <a:ext cx="680442" cy="680442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54114" y="3512225"/>
            <a:ext cx="306110" cy="30611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866948" y="42324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Mixed Content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9866948" y="4722852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Notes combined with tasks require manual separation</a:t>
            </a:r>
            <a:endParaRPr lang="en-US" sz="1750" dirty="0"/>
          </a:p>
        </p:txBody>
      </p:sp>
      <p:sp>
        <p:nvSpPr>
          <p:cNvPr id="18" name="Text 10"/>
          <p:cNvSpPr/>
          <p:nvPr/>
        </p:nvSpPr>
        <p:spPr>
          <a:xfrm>
            <a:off x="793790" y="593062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Students and professionals face productivity challenges when converting handwritten content to digital format.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6856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How It Works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1917502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54674" y="21443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Upload Image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154674" y="2634734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Handwritten notes captured via phone or scanner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278386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54674" y="3505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Enhance &amp; Extract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154674" y="3995618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OpenCV improves image, OCR converts to text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639270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54674" y="48660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AI Correction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154674" y="5356503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Gemini fixes grammar and reconstructs text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6000155"/>
            <a:ext cx="1134070" cy="13608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154674" y="62269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Extract Tasks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2154674" y="6717387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Identify and organize actionable items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9043" y="511731"/>
            <a:ext cx="4634746" cy="579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Core Technologies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043" y="2300764"/>
            <a:ext cx="370761" cy="3707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79113" y="2364462"/>
            <a:ext cx="2317313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Streamlit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79113" y="2805470"/>
            <a:ext cx="3623191" cy="26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Interactive frontend framework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9043" y="3377922"/>
            <a:ext cx="370761" cy="3707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79113" y="3441621"/>
            <a:ext cx="2317313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OpenCV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479113" y="3882628"/>
            <a:ext cx="3623191" cy="26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Image preprocessing and enhancement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9043" y="4455081"/>
            <a:ext cx="370761" cy="3707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79113" y="4518779"/>
            <a:ext cx="2317313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OCR Engine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479113" y="4959787"/>
            <a:ext cx="3623191" cy="26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Tesseract/EasyOCR for text extraction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2124" y="1488758"/>
            <a:ext cx="8156615" cy="4552474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919043" y="6381988"/>
            <a:ext cx="6320314" cy="1335762"/>
          </a:xfrm>
          <a:prstGeom prst="roundRect">
            <a:avLst>
              <a:gd name="adj" fmla="val 2082"/>
            </a:avLst>
          </a:prstGeom>
          <a:solidFill>
            <a:srgbClr val="1B1C1D"/>
          </a:solidFill>
          <a:ln w="22860">
            <a:solidFill>
              <a:srgbClr val="535455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1127284" y="6590228"/>
            <a:ext cx="2711172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Google Gemini 2.5 Flash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1127284" y="6970633"/>
            <a:ext cx="5903833" cy="538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Contextual understanding, grammar correction, and smart task extraction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7390805" y="6381988"/>
            <a:ext cx="6320433" cy="1335762"/>
          </a:xfrm>
          <a:prstGeom prst="roundRect">
            <a:avLst>
              <a:gd name="adj" fmla="val 2082"/>
            </a:avLst>
          </a:prstGeom>
          <a:solidFill>
            <a:srgbClr val="1B1C1D"/>
          </a:solidFill>
          <a:ln w="22860">
            <a:solidFill>
              <a:srgbClr val="535455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7599045" y="6590228"/>
            <a:ext cx="2317313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Python Backend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7599045" y="6970633"/>
            <a:ext cx="5903952" cy="26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processing engine with modular architecture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0789" y="1007626"/>
            <a:ext cx="6013966" cy="536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Image Enhancement Process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600789" y="1738908"/>
            <a:ext cx="171569" cy="21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01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89" y="2007751"/>
            <a:ext cx="7942421" cy="228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0789" y="2139196"/>
            <a:ext cx="2237661" cy="268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Grayscale Conversion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600789" y="2485192"/>
            <a:ext cx="7942421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Remove color noise for cleaner processing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00789" y="2985016"/>
            <a:ext cx="171569" cy="21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02</a:t>
            </a:r>
            <a:endParaRPr lang="en-US" sz="13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89" y="3236714"/>
            <a:ext cx="7942421" cy="228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0789" y="3385304"/>
            <a:ext cx="2271474" cy="268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Brightness &amp; Contrast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600789" y="3731300"/>
            <a:ext cx="7942421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Adjust levels to improve visibility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0789" y="4231124"/>
            <a:ext cx="171569" cy="21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03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89" y="4465677"/>
            <a:ext cx="7942421" cy="228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00789" y="4631412"/>
            <a:ext cx="2145863" cy="268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Noise Reduction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600789" y="4977408"/>
            <a:ext cx="7942421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Filter out imperfections and artifacts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600789" y="5477232"/>
            <a:ext cx="171569" cy="21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 Light" pitchFamily="34" charset="0"/>
                <a:ea typeface="Prata Light" pitchFamily="34" charset="-122"/>
                <a:cs typeface="Prata Light" pitchFamily="34" charset="-120"/>
              </a:rPr>
              <a:t>04</a:t>
            </a:r>
            <a:endParaRPr lang="en-US" sz="13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789" y="5694640"/>
            <a:ext cx="7942421" cy="228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00789" y="5877520"/>
            <a:ext cx="2145863" cy="268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Thresholding</a:t>
            </a:r>
            <a:endParaRPr lang="en-US" sz="1650" dirty="0"/>
          </a:p>
        </p:txBody>
      </p:sp>
      <p:sp>
        <p:nvSpPr>
          <p:cNvPr id="19" name="Text 12"/>
          <p:cNvSpPr/>
          <p:nvPr/>
        </p:nvSpPr>
        <p:spPr>
          <a:xfrm>
            <a:off x="600789" y="6223516"/>
            <a:ext cx="7942421" cy="241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Apply binary filters for OCR optimization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600789" y="6739533"/>
            <a:ext cx="7942421" cy="4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Enhanced images ensure higher text recognition accuracy even for low-quality or unclear handwriting.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56" y="589240"/>
            <a:ext cx="7196137" cy="66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AI-Powered Text Correction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49856" y="2892504"/>
            <a:ext cx="267831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What the AI Handles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49856" y="3429714"/>
            <a:ext cx="8351996" cy="154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Corrects spelling errors automatically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Improves grammar and sentence structure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Reconstructs incomplete or unclear words using contextual understanding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Formats text into readable paragraphs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49856" y="5178147"/>
            <a:ext cx="267831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Result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49856" y="5715357"/>
            <a:ext cx="835199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Messy handwritten content transformed into professional, well-structured digital text.</a:t>
            </a:r>
            <a:endParaRPr lang="en-US" sz="16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2156" y="1789986"/>
            <a:ext cx="4255889" cy="56745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6214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Automatic To-Do Extraction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719864"/>
            <a:ext cx="3664744" cy="2032754"/>
          </a:xfrm>
          <a:prstGeom prst="roundRect">
            <a:avLst>
              <a:gd name="adj" fmla="val 1674"/>
            </a:avLst>
          </a:prstGeom>
          <a:solidFill>
            <a:srgbClr val="3A3B3C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29466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Intent Analysis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437096"/>
            <a:ext cx="3211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analyzes sentence structure to detect task-oriented statements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348" y="2719864"/>
            <a:ext cx="3664863" cy="2032754"/>
          </a:xfrm>
          <a:prstGeom prst="roundRect">
            <a:avLst>
              <a:gd name="adj" fmla="val 1674"/>
            </a:avLst>
          </a:prstGeom>
          <a:solidFill>
            <a:srgbClr val="3A3B3C"/>
          </a:solidFill>
          <a:ln/>
        </p:spPr>
      </p:sp>
      <p:sp>
        <p:nvSpPr>
          <p:cNvPr id="8" name="Text 5"/>
          <p:cNvSpPr/>
          <p:nvPr/>
        </p:nvSpPr>
        <p:spPr>
          <a:xfrm>
            <a:off x="4912162" y="2946678"/>
            <a:ext cx="297596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Action Item Detection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2162" y="3437096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Identifies and extracts actionable items from mixed content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4979432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3A3B3C"/>
          </a:solidFill>
          <a:ln/>
        </p:spPr>
      </p:sp>
      <p:sp>
        <p:nvSpPr>
          <p:cNvPr id="11" name="Text 8"/>
          <p:cNvSpPr/>
          <p:nvPr/>
        </p:nvSpPr>
        <p:spPr>
          <a:xfrm>
            <a:off x="1020604" y="52062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Structured List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0604" y="5696664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Organizes tasks into clean bullet-point format for quick reference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654153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Separates important tasks from general notes, improving productivity and task management.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1071" y="609481"/>
            <a:ext cx="4611648" cy="576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135499" y="1762601"/>
            <a:ext cx="184428" cy="829985"/>
          </a:xfrm>
          <a:prstGeom prst="roundRect">
            <a:avLst>
              <a:gd name="adj" fmla="val 15003"/>
            </a:avLst>
          </a:prstGeom>
          <a:solidFill>
            <a:srgbClr val="3A3B3C"/>
          </a:solidFill>
          <a:ln/>
        </p:spPr>
      </p:sp>
      <p:sp>
        <p:nvSpPr>
          <p:cNvPr id="4" name="Shape 2"/>
          <p:cNvSpPr/>
          <p:nvPr/>
        </p:nvSpPr>
        <p:spPr>
          <a:xfrm>
            <a:off x="951071" y="1641515"/>
            <a:ext cx="553403" cy="553403"/>
          </a:xfrm>
          <a:prstGeom prst="roundRect">
            <a:avLst>
              <a:gd name="adj" fmla="val 82616"/>
            </a:avLst>
          </a:prstGeom>
          <a:solidFill>
            <a:srgbClr val="3A3B3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9422" y="1779865"/>
            <a:ext cx="276701" cy="2767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54493" y="1670328"/>
            <a:ext cx="2443401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Streamlit Frontend UI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54493" y="2048589"/>
            <a:ext cx="12024836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Simple web interface for image uploads and dynamic result display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1412200" y="3019425"/>
            <a:ext cx="184428" cy="829985"/>
          </a:xfrm>
          <a:prstGeom prst="roundRect">
            <a:avLst>
              <a:gd name="adj" fmla="val 15003"/>
            </a:avLst>
          </a:prstGeom>
          <a:solidFill>
            <a:srgbClr val="3A3B3C"/>
          </a:solidFill>
          <a:ln/>
        </p:spPr>
      </p:sp>
      <p:sp>
        <p:nvSpPr>
          <p:cNvPr id="9" name="Shape 6"/>
          <p:cNvSpPr/>
          <p:nvPr/>
        </p:nvSpPr>
        <p:spPr>
          <a:xfrm>
            <a:off x="1227773" y="2898338"/>
            <a:ext cx="553403" cy="553403"/>
          </a:xfrm>
          <a:prstGeom prst="roundRect">
            <a:avLst>
              <a:gd name="adj" fmla="val 82616"/>
            </a:avLst>
          </a:prstGeom>
          <a:solidFill>
            <a:srgbClr val="3A3B3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6123" y="3036689"/>
            <a:ext cx="276701" cy="2767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31194" y="2927152"/>
            <a:ext cx="2633543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Image Processing Layer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931194" y="3305413"/>
            <a:ext cx="11748135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OpenCV enhances images through preprocessing techniques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1688902" y="4276249"/>
            <a:ext cx="184428" cy="829985"/>
          </a:xfrm>
          <a:prstGeom prst="roundRect">
            <a:avLst>
              <a:gd name="adj" fmla="val 15003"/>
            </a:avLst>
          </a:prstGeom>
          <a:solidFill>
            <a:srgbClr val="3A3B3C"/>
          </a:solidFill>
          <a:ln/>
        </p:spPr>
      </p:sp>
      <p:sp>
        <p:nvSpPr>
          <p:cNvPr id="14" name="Shape 10"/>
          <p:cNvSpPr/>
          <p:nvPr/>
        </p:nvSpPr>
        <p:spPr>
          <a:xfrm>
            <a:off x="1504474" y="4155162"/>
            <a:ext cx="553403" cy="553403"/>
          </a:xfrm>
          <a:prstGeom prst="roundRect">
            <a:avLst>
              <a:gd name="adj" fmla="val 82616"/>
            </a:avLst>
          </a:prstGeom>
          <a:solidFill>
            <a:srgbClr val="3A3B3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42824" y="4293513"/>
            <a:ext cx="276701" cy="27670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207895" y="4183975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OCR Layer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2207895" y="4562237"/>
            <a:ext cx="11471434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Extracts raw text from processed images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1965603" y="5533072"/>
            <a:ext cx="184428" cy="829985"/>
          </a:xfrm>
          <a:prstGeom prst="roundRect">
            <a:avLst>
              <a:gd name="adj" fmla="val 15003"/>
            </a:avLst>
          </a:prstGeom>
          <a:solidFill>
            <a:srgbClr val="3A3B3C"/>
          </a:solidFill>
          <a:ln/>
        </p:spPr>
      </p:sp>
      <p:sp>
        <p:nvSpPr>
          <p:cNvPr id="19" name="Shape 14"/>
          <p:cNvSpPr/>
          <p:nvPr/>
        </p:nvSpPr>
        <p:spPr>
          <a:xfrm>
            <a:off x="1781175" y="5411986"/>
            <a:ext cx="553403" cy="553403"/>
          </a:xfrm>
          <a:prstGeom prst="roundRect">
            <a:avLst>
              <a:gd name="adj" fmla="val 82616"/>
            </a:avLst>
          </a:prstGeom>
          <a:solidFill>
            <a:srgbClr val="3A3B3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19526" y="5550337"/>
            <a:ext cx="276701" cy="27670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484596" y="5440799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Generative AI Layer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2484596" y="5819061"/>
            <a:ext cx="11194733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Gemini 2.5 Flash corrects, formats, and extracts tasks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1688902" y="6789896"/>
            <a:ext cx="184428" cy="829985"/>
          </a:xfrm>
          <a:prstGeom prst="roundRect">
            <a:avLst>
              <a:gd name="adj" fmla="val 15003"/>
            </a:avLst>
          </a:prstGeom>
          <a:solidFill>
            <a:srgbClr val="3A3B3C"/>
          </a:solidFill>
          <a:ln/>
        </p:spPr>
      </p:sp>
      <p:sp>
        <p:nvSpPr>
          <p:cNvPr id="24" name="Shape 18"/>
          <p:cNvSpPr/>
          <p:nvPr/>
        </p:nvSpPr>
        <p:spPr>
          <a:xfrm>
            <a:off x="1504474" y="6668810"/>
            <a:ext cx="553403" cy="553403"/>
          </a:xfrm>
          <a:prstGeom prst="roundRect">
            <a:avLst>
              <a:gd name="adj" fmla="val 82616"/>
            </a:avLst>
          </a:prstGeom>
          <a:solidFill>
            <a:srgbClr val="3A3B3C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42824" y="6807160"/>
            <a:ext cx="276701" cy="27670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207895" y="6697623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Export Module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2207895" y="7075884"/>
            <a:ext cx="11471434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Converts content to PDF, Word, or text formats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241" y="628769"/>
            <a:ext cx="5587841" cy="698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Testing Results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1493401" y="3220283"/>
            <a:ext cx="2749153" cy="558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50"/>
              </a:lnSpc>
              <a:buNone/>
            </a:pPr>
            <a:r>
              <a:rPr lang="en-US" sz="4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95%</a:t>
            </a:r>
            <a:endParaRPr lang="en-US" sz="4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697" y="1823442"/>
            <a:ext cx="3352681" cy="33526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71136" y="5452110"/>
            <a:ext cx="2793921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Clear Handwriting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782241" y="5933361"/>
            <a:ext cx="4171712" cy="709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Accurate OCR extraction with proper grammar correction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40504" y="3220283"/>
            <a:ext cx="2749153" cy="558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50"/>
              </a:lnSpc>
              <a:buNone/>
            </a:pPr>
            <a:r>
              <a:rPr lang="en-US" sz="4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85%</a:t>
            </a:r>
            <a:endParaRPr lang="en-US" sz="4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823442"/>
            <a:ext cx="3352681" cy="335268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18121" y="5452110"/>
            <a:ext cx="2793921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Medium Quality</a:t>
            </a:r>
            <a:endParaRPr lang="en-US" sz="2150" dirty="0"/>
          </a:p>
        </p:txBody>
      </p:sp>
      <p:sp>
        <p:nvSpPr>
          <p:cNvPr id="10" name="Text 6"/>
          <p:cNvSpPr/>
          <p:nvPr/>
        </p:nvSpPr>
        <p:spPr>
          <a:xfrm>
            <a:off x="5229225" y="5933361"/>
            <a:ext cx="4171831" cy="709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Context-based correction improved sentence clarity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87489" y="3220283"/>
            <a:ext cx="2749153" cy="558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50"/>
              </a:lnSpc>
              <a:buNone/>
            </a:pPr>
            <a:r>
              <a:rPr lang="en-US" sz="4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70%</a:t>
            </a:r>
            <a:endParaRPr lang="en-US" sz="4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784" y="1823442"/>
            <a:ext cx="3352681" cy="335268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65224" y="5452110"/>
            <a:ext cx="2793921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Poor Quality</a:t>
            </a:r>
            <a:endParaRPr lang="en-US" sz="2150" dirty="0"/>
          </a:p>
        </p:txBody>
      </p:sp>
      <p:sp>
        <p:nvSpPr>
          <p:cNvPr id="14" name="Text 9"/>
          <p:cNvSpPr/>
          <p:nvPr/>
        </p:nvSpPr>
        <p:spPr>
          <a:xfrm>
            <a:off x="9676328" y="5933361"/>
            <a:ext cx="4171712" cy="709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Partial extraction with contextual enhancement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82241" y="6890980"/>
            <a:ext cx="13065919" cy="709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successfully processed various handwriting styles, lighting conditions, and content types with consistent error handling.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2117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Key Takeaways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1870115"/>
            <a:ext cx="7556421" cy="1367909"/>
          </a:xfrm>
          <a:prstGeom prst="roundRect">
            <a:avLst>
              <a:gd name="adj" fmla="val 10695"/>
            </a:avLst>
          </a:prstGeom>
          <a:solidFill>
            <a:srgbClr val="1B1C1D"/>
          </a:solidFill>
          <a:ln w="30480">
            <a:solidFill>
              <a:srgbClr val="535455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310" y="1870115"/>
            <a:ext cx="121920" cy="136790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2524" y="2127409"/>
            <a:ext cx="29576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Modular Architecture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142524" y="2617827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Separation of concerns ensures maintainability and scalability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793790" y="3464838"/>
            <a:ext cx="7556421" cy="1367909"/>
          </a:xfrm>
          <a:prstGeom prst="roundRect">
            <a:avLst>
              <a:gd name="adj" fmla="val 10695"/>
            </a:avLst>
          </a:prstGeom>
          <a:solidFill>
            <a:srgbClr val="1B1C1D"/>
          </a:solidFill>
          <a:ln w="30480">
            <a:solidFill>
              <a:srgbClr val="535455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3464838"/>
            <a:ext cx="121920" cy="13679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2524" y="3722132"/>
            <a:ext cx="29170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Intelligent Processing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142524" y="4212550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Gemini AI provides contextual understanding beyond simple OCR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793790" y="5059561"/>
            <a:ext cx="7556421" cy="1367909"/>
          </a:xfrm>
          <a:prstGeom prst="roundRect">
            <a:avLst>
              <a:gd name="adj" fmla="val 10695"/>
            </a:avLst>
          </a:prstGeom>
          <a:solidFill>
            <a:srgbClr val="1B1C1D"/>
          </a:solidFill>
          <a:ln w="30480">
            <a:solidFill>
              <a:srgbClr val="535455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10" y="5059561"/>
            <a:ext cx="121920" cy="136790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2524" y="53168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Practical Value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142524" y="5807273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Saves time for students and professionals through automation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793790" y="668262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Team: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Panneer Selvam M (Leader), Anto Newton X, Sanjay Kumar C, Sivanesan M, Naveen V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2026-03-17T05:02:38Z</dcterms:created>
  <dcterms:modified xsi:type="dcterms:W3CDTF">2026-03-17T05:02:38Z</dcterms:modified>
</cp:coreProperties>
</file>